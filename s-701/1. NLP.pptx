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10287000" cx="18288000"/>
  <p:notesSz cx="6858000" cy="9144000"/>
  <p:embeddedFontLst>
    <p:embeddedFont>
      <p:font typeface="Poppi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0" roundtripDataSignature="AMtx7mhaB34tAO/Mk9OH4LLMArx0hRSQ4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-regular.fntdata"/><Relationship Id="rId25" Type="http://schemas.openxmlformats.org/officeDocument/2006/relationships/slide" Target="slides/slide20.xml"/><Relationship Id="rId28" Type="http://schemas.openxmlformats.org/officeDocument/2006/relationships/font" Target="fonts/Poppins-italic.fntdata"/><Relationship Id="rId27" Type="http://schemas.openxmlformats.org/officeDocument/2006/relationships/font" Target="fonts/Poppi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7" name="Google Shape;87;p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97" name="Google Shape;97;p3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08" name="Google Shape;108;p4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19" name="Google Shape;119;p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33" name="Google Shape;133;p6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43" name="Google Shape;143;p7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55" name="Google Shape;155;p8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68" name="Google Shape;168;p9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9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78" name="Google Shape;178;p10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1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0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90" name="Google Shape;190;p11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1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00" name="Google Shape;200;p1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1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13" name="Google Shape;213;p13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1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23" name="Google Shape;223;p14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1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35" name="Google Shape;235;p15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1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47" name="Google Shape;247;p16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1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59" name="Google Shape;259;p17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1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7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7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69" name="Google Shape;269;p18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1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8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8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684b9063ce_0_9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g3684b9063ce_0_9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81" name="Google Shape;281;g3684b9063ce_0_9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g3684b9063ce_0_9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3684b9063ce_0_9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g3684b9063ce_0_9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9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9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92" name="Google Shape;292;p19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p1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9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9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03" name="Google Shape;303;p20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2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0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0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/>
          <p:nvPr/>
        </p:nvSpPr>
        <p:spPr>
          <a:xfrm>
            <a:off x="0" y="0"/>
            <a:ext cx="18288000" cy="10287022"/>
          </a:xfrm>
          <a:custGeom>
            <a:rect b="b" l="l" r="r" t="t"/>
            <a:pathLst>
              <a:path extrusionOk="0" h="10287022" w="18288000">
                <a:moveTo>
                  <a:pt x="0" y="0"/>
                </a:moveTo>
                <a:lnTo>
                  <a:pt x="18288000" y="0"/>
                </a:lnTo>
                <a:lnTo>
                  <a:pt x="18288000" y="10287022"/>
                </a:lnTo>
                <a:lnTo>
                  <a:pt x="0" y="102870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690475" y="5739325"/>
            <a:ext cx="10592402" cy="2394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NATURAL LANGUAGE PROCESSING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 txBox="1"/>
          <p:nvPr/>
        </p:nvSpPr>
        <p:spPr>
          <a:xfrm>
            <a:off x="1524000" y="1347937"/>
            <a:ext cx="15967902" cy="792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7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HANDLING TEXT IN ML</a:t>
            </a:r>
            <a:endParaRPr/>
          </a:p>
        </p:txBody>
      </p:sp>
      <p:sp>
        <p:nvSpPr>
          <p:cNvPr id="104" name="Google Shape;104;p3"/>
          <p:cNvSpPr txBox="1"/>
          <p:nvPr/>
        </p:nvSpPr>
        <p:spPr>
          <a:xfrm>
            <a:off x="1276350" y="3194159"/>
            <a:ext cx="15735300" cy="5539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2" lvl="1" marL="647703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12121"/>
                </a:solidFill>
                <a:latin typeface="Poppins"/>
                <a:ea typeface="Poppins"/>
                <a:cs typeface="Poppins"/>
                <a:sym typeface="Poppins"/>
              </a:rPr>
              <a:t>So far, the algorithms that we have seen take as input tabular information with numeric or categorical data.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21212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2" lvl="1" marL="647703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12121"/>
                </a:solidFill>
                <a:latin typeface="Poppins"/>
                <a:ea typeface="Poppins"/>
                <a:cs typeface="Poppins"/>
                <a:sym typeface="Poppins"/>
              </a:rPr>
              <a:t>There are several areas of application where our data is not natively structured in this way: sound, image and text come to mind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21212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2" lvl="1" marL="647703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12121"/>
                </a:solidFill>
                <a:latin typeface="Poppins"/>
                <a:ea typeface="Poppins"/>
                <a:cs typeface="Poppins"/>
                <a:sym typeface="Poppins"/>
              </a:rPr>
              <a:t>In these situations we often reduce the problem to turning the native data format into a suitable set of features, followed by applying the typical ML algorithms.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21212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2" lvl="1" marL="647703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12121"/>
                </a:solidFill>
                <a:latin typeface="Poppins"/>
                <a:ea typeface="Poppins"/>
                <a:cs typeface="Poppins"/>
                <a:sym typeface="Poppins"/>
              </a:rPr>
              <a:t>In other words: how do we turn text into a suitable set of numbers?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21212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 txBox="1"/>
          <p:nvPr/>
        </p:nvSpPr>
        <p:spPr>
          <a:xfrm>
            <a:off x="1524000" y="1347937"/>
            <a:ext cx="15967902" cy="792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7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HANDLING TEXT IN ML</a:t>
            </a:r>
            <a:endParaRPr/>
          </a:p>
        </p:txBody>
      </p:sp>
      <p:sp>
        <p:nvSpPr>
          <p:cNvPr id="115" name="Google Shape;115;p4"/>
          <p:cNvSpPr txBox="1"/>
          <p:nvPr/>
        </p:nvSpPr>
        <p:spPr>
          <a:xfrm>
            <a:off x="1524000" y="3044612"/>
            <a:ext cx="15735300" cy="54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12121"/>
                </a:solidFill>
                <a:latin typeface="Poppins"/>
                <a:ea typeface="Poppins"/>
                <a:cs typeface="Poppins"/>
                <a:sym typeface="Poppins"/>
              </a:rPr>
              <a:t>Some of this feature generation can and should come from metadata:</a:t>
            </a:r>
            <a:endParaRPr/>
          </a:p>
          <a:p>
            <a:pPr indent="-323852" lvl="1" marL="647703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12121"/>
                </a:solidFill>
                <a:latin typeface="Poppins"/>
                <a:ea typeface="Poppins"/>
                <a:cs typeface="Poppins"/>
                <a:sym typeface="Poppins"/>
              </a:rPr>
              <a:t>source of text </a:t>
            </a:r>
            <a:endParaRPr/>
          </a:p>
          <a:p>
            <a:pPr indent="-323852" lvl="1" marL="647703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12121"/>
                </a:solidFill>
                <a:latin typeface="Poppins"/>
                <a:ea typeface="Poppins"/>
                <a:cs typeface="Poppins"/>
                <a:sym typeface="Poppins"/>
              </a:rPr>
              <a:t>date of production </a:t>
            </a:r>
            <a:endParaRPr/>
          </a:p>
          <a:p>
            <a:pPr indent="-323851" lvl="1" marL="647702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12121"/>
                </a:solidFill>
                <a:latin typeface="Poppins"/>
                <a:ea typeface="Poppins"/>
                <a:cs typeface="Poppins"/>
                <a:sym typeface="Poppins"/>
              </a:rPr>
              <a:t>author</a:t>
            </a:r>
            <a:endParaRPr sz="3000">
              <a:solidFill>
                <a:srgbClr val="21212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21212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21212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12121"/>
                </a:solidFill>
                <a:latin typeface="Poppins"/>
                <a:ea typeface="Poppins"/>
                <a:cs typeface="Poppins"/>
                <a:sym typeface="Poppins"/>
              </a:rPr>
              <a:t>But ultimately it is clear that most of the information must come from the body of the text. 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21212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21212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 txBox="1"/>
          <p:nvPr/>
        </p:nvSpPr>
        <p:spPr>
          <a:xfrm>
            <a:off x="1524000" y="2474060"/>
            <a:ext cx="7013047" cy="414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2" lvl="1" marL="647703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12121"/>
                </a:solidFill>
                <a:latin typeface="Poppins"/>
                <a:ea typeface="Poppins"/>
                <a:cs typeface="Poppins"/>
                <a:sym typeface="Poppins"/>
              </a:rPr>
              <a:t>Tokenization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21212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2" lvl="1" marL="647703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12121"/>
                </a:solidFill>
                <a:latin typeface="Poppins"/>
                <a:ea typeface="Poppins"/>
                <a:cs typeface="Poppins"/>
                <a:sym typeface="Poppins"/>
              </a:rPr>
              <a:t>The process involves taking any text and splitting it into "tokens"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21212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2" lvl="1" marL="647703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12121"/>
                </a:solidFill>
                <a:latin typeface="Poppins"/>
                <a:ea typeface="Poppins"/>
                <a:cs typeface="Poppins"/>
                <a:sym typeface="Poppins"/>
              </a:rPr>
              <a:t>Usually the tokens chosen are individual words but can be sentences as well.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21212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8289397" y="2502635"/>
            <a:ext cx="9998603" cy="6234948"/>
          </a:xfrm>
          <a:custGeom>
            <a:rect b="b" l="l" r="r" t="t"/>
            <a:pathLst>
              <a:path extrusionOk="0" h="6234948" w="9998603">
                <a:moveTo>
                  <a:pt x="0" y="0"/>
                </a:moveTo>
                <a:lnTo>
                  <a:pt x="9998603" y="0"/>
                </a:lnTo>
                <a:lnTo>
                  <a:pt x="9998603" y="6234948"/>
                </a:lnTo>
                <a:lnTo>
                  <a:pt x="0" y="62349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2681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 txBox="1"/>
          <p:nvPr/>
        </p:nvSpPr>
        <p:spPr>
          <a:xfrm>
            <a:off x="1524000" y="1347937"/>
            <a:ext cx="15967902" cy="792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7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TEXT DATA CLEANING TECHNIQUES</a:t>
            </a:r>
            <a:endParaRPr/>
          </a:p>
        </p:txBody>
      </p:sp>
      <p:sp>
        <p:nvSpPr>
          <p:cNvPr id="128" name="Google Shape;128;p5"/>
          <p:cNvSpPr txBox="1"/>
          <p:nvPr/>
        </p:nvSpPr>
        <p:spPr>
          <a:xfrm>
            <a:off x="1037251" y="9080362"/>
            <a:ext cx="17250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 txBox="1"/>
          <p:nvPr/>
        </p:nvSpPr>
        <p:spPr>
          <a:xfrm>
            <a:off x="403400" y="8934375"/>
            <a:ext cx="17928000" cy="13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200">
                <a:solidFill>
                  <a:srgbClr val="2DC5FA"/>
                </a:solidFill>
                <a:latin typeface="Poppins"/>
                <a:ea typeface="Poppins"/>
                <a:cs typeface="Poppins"/>
                <a:sym typeface="Poppins"/>
              </a:rPr>
              <a:t>PROBLEMS</a:t>
            </a:r>
            <a:r>
              <a:rPr lang="en-US" sz="2200">
                <a:solidFill>
                  <a:srgbClr val="212121"/>
                </a:solidFill>
                <a:latin typeface="Poppins"/>
                <a:ea typeface="Poppins"/>
                <a:cs typeface="Poppins"/>
                <a:sym typeface="Poppins"/>
              </a:rPr>
              <a:t>: YOU CAN LOSE IMPORTANT MEANING LIKE "NEW YORK" GETS SPLIT INTO "NEW" AND "YORK" THUS LOSING THE GEOGRAPHICAL MEANING. A GOOD MACHINE LEARNING APPLICATION WOULD TAKE THIS INTO CONSIDERATION BY CONSIDERING THE RELATIVE FREQUENCY OF PAIRS OF WORDS AND PERHAPS KEEP THOSE PAIRS AS A SINGLE WORD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 txBox="1"/>
          <p:nvPr/>
        </p:nvSpPr>
        <p:spPr>
          <a:xfrm>
            <a:off x="7543800" y="4769391"/>
            <a:ext cx="8728902" cy="7482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7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Jupyter</a:t>
            </a:r>
            <a:endParaRPr sz="5700">
              <a:solidFill>
                <a:srgbClr val="43434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 txBox="1"/>
          <p:nvPr/>
        </p:nvSpPr>
        <p:spPr>
          <a:xfrm>
            <a:off x="1524000" y="1347937"/>
            <a:ext cx="15967902" cy="792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7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TEXT DATA CLEANING TECHNIQUES</a:t>
            </a:r>
            <a:endParaRPr/>
          </a:p>
        </p:txBody>
      </p:sp>
      <p:sp>
        <p:nvSpPr>
          <p:cNvPr id="150" name="Google Shape;150;p7"/>
          <p:cNvSpPr txBox="1"/>
          <p:nvPr/>
        </p:nvSpPr>
        <p:spPr>
          <a:xfrm>
            <a:off x="1276350" y="3194159"/>
            <a:ext cx="7013047" cy="5972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2" lvl="1" marL="647703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12121"/>
                </a:solidFill>
                <a:latin typeface="Poppins"/>
                <a:ea typeface="Poppins"/>
                <a:cs typeface="Poppins"/>
                <a:sym typeface="Poppins"/>
              </a:rPr>
              <a:t>Stemming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21212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2" lvl="1" marL="647703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12121"/>
                </a:solidFill>
                <a:latin typeface="Poppins"/>
                <a:ea typeface="Poppins"/>
                <a:cs typeface="Poppins"/>
                <a:sym typeface="Poppins"/>
              </a:rPr>
              <a:t>Removing prefixes and suffixes in order to reduce synonym words into their common form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21212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21212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2" lvl="1" marL="647703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12121"/>
                </a:solidFill>
                <a:latin typeface="Poppins"/>
                <a:ea typeface="Poppins"/>
                <a:cs typeface="Poppins"/>
                <a:sym typeface="Poppins"/>
              </a:rPr>
              <a:t>This can lead to some problems of creating spurious relations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21212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2" lvl="1" marL="647703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DC5FA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DC5FA"/>
                </a:solidFill>
                <a:latin typeface="Poppins"/>
                <a:ea typeface="Poppins"/>
                <a:cs typeface="Poppins"/>
                <a:sym typeface="Poppins"/>
              </a:rPr>
              <a:t>Stripes -&gt; Strip</a:t>
            </a:r>
            <a:endParaRPr/>
          </a:p>
          <a:p>
            <a:pPr indent="-323852" lvl="1" marL="647703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DC5FA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DC5FA"/>
                </a:solidFill>
                <a:latin typeface="Poppins"/>
                <a:ea typeface="Poppins"/>
                <a:cs typeface="Poppins"/>
                <a:sym typeface="Poppins"/>
              </a:rPr>
              <a:t>Strip -&gt; Strip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2DC5F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9144000" y="3222734"/>
            <a:ext cx="8057791" cy="6035566"/>
          </a:xfrm>
          <a:custGeom>
            <a:rect b="b" l="l" r="r" t="t"/>
            <a:pathLst>
              <a:path extrusionOk="0" h="6035566" w="8057791">
                <a:moveTo>
                  <a:pt x="0" y="0"/>
                </a:moveTo>
                <a:lnTo>
                  <a:pt x="8057791" y="0"/>
                </a:lnTo>
                <a:lnTo>
                  <a:pt x="8057791" y="6035566"/>
                </a:lnTo>
                <a:lnTo>
                  <a:pt x="0" y="60355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 txBox="1"/>
          <p:nvPr/>
        </p:nvSpPr>
        <p:spPr>
          <a:xfrm>
            <a:off x="1524000" y="1347937"/>
            <a:ext cx="15967902" cy="792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7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TEXT DATA CLEANING TECHNIQUES</a:t>
            </a:r>
            <a:endParaRPr/>
          </a:p>
        </p:txBody>
      </p:sp>
      <p:sp>
        <p:nvSpPr>
          <p:cNvPr id="162" name="Google Shape;162;p8"/>
          <p:cNvSpPr txBox="1"/>
          <p:nvPr/>
        </p:nvSpPr>
        <p:spPr>
          <a:xfrm>
            <a:off x="1276350" y="3194159"/>
            <a:ext cx="4824065" cy="4600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DC5FA"/>
                </a:solidFill>
                <a:latin typeface="Poppins"/>
                <a:ea typeface="Poppins"/>
                <a:cs typeface="Poppins"/>
                <a:sym typeface="Poppins"/>
              </a:rPr>
              <a:t>lemmatization </a:t>
            </a:r>
            <a:r>
              <a:rPr lang="en-US" sz="3000">
                <a:solidFill>
                  <a:srgbClr val="212121"/>
                </a:solidFill>
                <a:latin typeface="Poppins"/>
                <a:ea typeface="Poppins"/>
                <a:cs typeface="Poppins"/>
                <a:sym typeface="Poppins"/>
              </a:rPr>
              <a:t>looks beyond word reduction and considers a language’s full vocabulary to apply a morphological analysis to words. The lemma of ‘was’ is ‘be’ and the lemma of ‘mice’ is ‘mouse’.</a:t>
            </a: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8074780" y="3222734"/>
            <a:ext cx="9790700" cy="3091800"/>
          </a:xfrm>
          <a:custGeom>
            <a:rect b="b" l="l" r="r" t="t"/>
            <a:pathLst>
              <a:path extrusionOk="0" h="3091800" w="9790700">
                <a:moveTo>
                  <a:pt x="0" y="0"/>
                </a:moveTo>
                <a:lnTo>
                  <a:pt x="9790700" y="0"/>
                </a:lnTo>
                <a:lnTo>
                  <a:pt x="9790700" y="3091800"/>
                </a:lnTo>
                <a:lnTo>
                  <a:pt x="0" y="3091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7254697" y="6314534"/>
            <a:ext cx="10610783" cy="2042384"/>
          </a:xfrm>
          <a:custGeom>
            <a:rect b="b" l="l" r="r" t="t"/>
            <a:pathLst>
              <a:path extrusionOk="0" h="2042384" w="10610783">
                <a:moveTo>
                  <a:pt x="0" y="0"/>
                </a:moveTo>
                <a:lnTo>
                  <a:pt x="10610783" y="0"/>
                </a:lnTo>
                <a:lnTo>
                  <a:pt x="10610783" y="2042384"/>
                </a:lnTo>
                <a:lnTo>
                  <a:pt x="0" y="20423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-494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 txBox="1"/>
          <p:nvPr/>
        </p:nvSpPr>
        <p:spPr>
          <a:xfrm>
            <a:off x="7543800" y="4769391"/>
            <a:ext cx="8728902" cy="7482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7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Jupyter</a:t>
            </a:r>
            <a:endParaRPr sz="5700">
              <a:solidFill>
                <a:srgbClr val="43434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 txBox="1"/>
          <p:nvPr/>
        </p:nvSpPr>
        <p:spPr>
          <a:xfrm>
            <a:off x="1524000" y="1347937"/>
            <a:ext cx="15967902" cy="792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7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TEXT DATA CLEANING TECHNIQUES</a:t>
            </a:r>
            <a:endParaRPr/>
          </a:p>
        </p:txBody>
      </p:sp>
      <p:sp>
        <p:nvSpPr>
          <p:cNvPr id="185" name="Google Shape;185;p10"/>
          <p:cNvSpPr txBox="1"/>
          <p:nvPr/>
        </p:nvSpPr>
        <p:spPr>
          <a:xfrm>
            <a:off x="1276350" y="3194159"/>
            <a:ext cx="7013100" cy="60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2" lvl="1" marL="647703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12121"/>
                </a:solidFill>
                <a:latin typeface="Poppins"/>
                <a:ea typeface="Poppins"/>
                <a:cs typeface="Poppins"/>
                <a:sym typeface="Poppins"/>
              </a:rPr>
              <a:t>Part-of-Speech tagging (POS)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21212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2" lvl="1" marL="647703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12121"/>
                </a:solidFill>
                <a:latin typeface="Poppins"/>
                <a:ea typeface="Poppins"/>
                <a:cs typeface="Poppins"/>
                <a:sym typeface="Poppins"/>
              </a:rPr>
              <a:t>Can be a very valuable feature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21212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2" lvl="1" marL="647703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12121"/>
                </a:solidFill>
                <a:latin typeface="Poppins"/>
                <a:ea typeface="Poppins"/>
                <a:cs typeface="Poppins"/>
                <a:sym typeface="Poppins"/>
              </a:rPr>
              <a:t>Used heavily in Natural Language Generation (NLG)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21212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2" lvl="1" marL="647703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12121"/>
                </a:solidFill>
                <a:latin typeface="Poppins"/>
                <a:ea typeface="Poppins"/>
                <a:cs typeface="Poppins"/>
                <a:sym typeface="Poppins"/>
              </a:rPr>
              <a:t>In that </a:t>
            </a:r>
            <a:r>
              <a:rPr lang="en-US" sz="3000">
                <a:solidFill>
                  <a:srgbClr val="212121"/>
                </a:solidFill>
                <a:latin typeface="Poppins"/>
                <a:ea typeface="Poppins"/>
                <a:cs typeface="Poppins"/>
                <a:sym typeface="Poppins"/>
              </a:rPr>
              <a:t>use case</a:t>
            </a:r>
            <a:r>
              <a:rPr b="0" i="0" lang="en-US" sz="3000" u="none" cap="none" strike="noStrike">
                <a:solidFill>
                  <a:srgbClr val="212121"/>
                </a:solidFill>
                <a:latin typeface="Poppins"/>
                <a:ea typeface="Poppins"/>
                <a:cs typeface="Poppins"/>
                <a:sym typeface="Poppins"/>
              </a:rPr>
              <a:t> the "next word" is heavily dependent on the previous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21212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6" name="Google Shape;186;p10"/>
          <p:cNvSpPr txBox="1"/>
          <p:nvPr/>
        </p:nvSpPr>
        <p:spPr>
          <a:xfrm>
            <a:off x="9871725" y="3194150"/>
            <a:ext cx="7866600" cy="24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chemeClr val="dk1"/>
                </a:solidFill>
              </a:rPr>
              <a:t>POS tagging</a:t>
            </a:r>
            <a:r>
              <a:rPr lang="en-US" sz="2900">
                <a:solidFill>
                  <a:schemeClr val="dk1"/>
                </a:solidFill>
              </a:rPr>
              <a:t> (Part-of-Speech tagging) in </a:t>
            </a:r>
            <a:r>
              <a:rPr b="1" lang="en-US" sz="2900">
                <a:solidFill>
                  <a:schemeClr val="dk1"/>
                </a:solidFill>
              </a:rPr>
              <a:t>Natural Language Processing (NLP)</a:t>
            </a:r>
            <a:r>
              <a:rPr lang="en-US" sz="2900">
                <a:solidFill>
                  <a:schemeClr val="dk1"/>
                </a:solidFill>
              </a:rPr>
              <a:t> is the process of </a:t>
            </a:r>
            <a:r>
              <a:rPr b="1" lang="en-US" sz="2900">
                <a:solidFill>
                  <a:schemeClr val="dk1"/>
                </a:solidFill>
              </a:rPr>
              <a:t>labeling each word in a sentence with its corresponding part of speech</a:t>
            </a:r>
            <a:r>
              <a:rPr lang="en-US" sz="2900">
                <a:solidFill>
                  <a:schemeClr val="dk1"/>
                </a:solidFill>
              </a:rPr>
              <a:t>, such as noun, verb, adjective, etc.</a:t>
            </a:r>
            <a:endParaRPr sz="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 txBox="1"/>
          <p:nvPr/>
        </p:nvSpPr>
        <p:spPr>
          <a:xfrm>
            <a:off x="7543800" y="4769391"/>
            <a:ext cx="8728902" cy="7482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7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Jupyter</a:t>
            </a:r>
            <a:endParaRPr sz="5700">
              <a:solidFill>
                <a:srgbClr val="43434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2"/>
          <p:cNvSpPr txBox="1"/>
          <p:nvPr/>
        </p:nvSpPr>
        <p:spPr>
          <a:xfrm>
            <a:off x="1524000" y="1347937"/>
            <a:ext cx="15967902" cy="792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7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TEXT DATA CLEANING TECHNIQUES</a:t>
            </a:r>
            <a:endParaRPr/>
          </a:p>
        </p:txBody>
      </p:sp>
      <p:sp>
        <p:nvSpPr>
          <p:cNvPr id="207" name="Google Shape;207;p12"/>
          <p:cNvSpPr txBox="1"/>
          <p:nvPr/>
        </p:nvSpPr>
        <p:spPr>
          <a:xfrm>
            <a:off x="1524000" y="3163665"/>
            <a:ext cx="4824065" cy="3150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12121"/>
                </a:solidFill>
                <a:latin typeface="Poppins"/>
                <a:ea typeface="Poppins"/>
                <a:cs typeface="Poppins"/>
                <a:sym typeface="Poppins"/>
              </a:rPr>
              <a:t>Removal of stop words</a:t>
            </a:r>
            <a:endParaRPr/>
          </a:p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21212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Stop words are common words which are usually removed to not be interpreted as noise</a:t>
            </a:r>
            <a:endParaRPr/>
          </a:p>
        </p:txBody>
      </p:sp>
      <p:sp>
        <p:nvSpPr>
          <p:cNvPr id="208" name="Google Shape;208;p12"/>
          <p:cNvSpPr/>
          <p:nvPr/>
        </p:nvSpPr>
        <p:spPr>
          <a:xfrm>
            <a:off x="8369123" y="2344041"/>
            <a:ext cx="9122779" cy="7083570"/>
          </a:xfrm>
          <a:custGeom>
            <a:rect b="b" l="l" r="r" t="t"/>
            <a:pathLst>
              <a:path extrusionOk="0" h="7083570" w="9122779">
                <a:moveTo>
                  <a:pt x="0" y="0"/>
                </a:moveTo>
                <a:lnTo>
                  <a:pt x="9122779" y="0"/>
                </a:lnTo>
                <a:lnTo>
                  <a:pt x="9122779" y="7083570"/>
                </a:lnTo>
                <a:lnTo>
                  <a:pt x="0" y="70835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2"/>
          <p:cNvSpPr/>
          <p:nvPr/>
        </p:nvSpPr>
        <p:spPr>
          <a:xfrm>
            <a:off x="15791314" y="9570900"/>
            <a:ext cx="2496686" cy="594238"/>
          </a:xfrm>
          <a:custGeom>
            <a:rect b="b" l="l" r="r" t="t"/>
            <a:pathLst>
              <a:path extrusionOk="0" h="594238" w="2496686">
                <a:moveTo>
                  <a:pt x="0" y="0"/>
                </a:moveTo>
                <a:lnTo>
                  <a:pt x="2496686" y="0"/>
                </a:lnTo>
                <a:lnTo>
                  <a:pt x="2496686" y="594238"/>
                </a:lnTo>
                <a:lnTo>
                  <a:pt x="0" y="5942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3"/>
          <p:cNvSpPr txBox="1"/>
          <p:nvPr/>
        </p:nvSpPr>
        <p:spPr>
          <a:xfrm>
            <a:off x="7543800" y="4769391"/>
            <a:ext cx="8728902" cy="7482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7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Jupyter</a:t>
            </a:r>
            <a:endParaRPr sz="5700">
              <a:solidFill>
                <a:srgbClr val="43434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4"/>
          <p:cNvSpPr/>
          <p:nvPr/>
        </p:nvSpPr>
        <p:spPr>
          <a:xfrm>
            <a:off x="0" y="7886159"/>
            <a:ext cx="18288000" cy="5632034"/>
          </a:xfrm>
          <a:custGeom>
            <a:rect b="b" l="l" r="r" t="t"/>
            <a:pathLst>
              <a:path extrusionOk="0" h="872549" w="2833290">
                <a:moveTo>
                  <a:pt x="0" y="0"/>
                </a:moveTo>
                <a:lnTo>
                  <a:pt x="2833290" y="0"/>
                </a:lnTo>
                <a:lnTo>
                  <a:pt x="2833290" y="872549"/>
                </a:lnTo>
                <a:lnTo>
                  <a:pt x="0" y="872549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33445" l="0" r="0" t="-13344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4"/>
          <p:cNvSpPr txBox="1"/>
          <p:nvPr/>
        </p:nvSpPr>
        <p:spPr>
          <a:xfrm>
            <a:off x="1524000" y="1347937"/>
            <a:ext cx="15967902" cy="792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7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BAG OF WORDS</a:t>
            </a:r>
            <a:endParaRPr/>
          </a:p>
        </p:txBody>
      </p:sp>
      <p:sp>
        <p:nvSpPr>
          <p:cNvPr id="231" name="Google Shape;231;p14"/>
          <p:cNvSpPr txBox="1"/>
          <p:nvPr/>
        </p:nvSpPr>
        <p:spPr>
          <a:xfrm>
            <a:off x="1524000" y="3163665"/>
            <a:ext cx="15499500" cy="49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12121"/>
                </a:solidFill>
                <a:latin typeface="Poppins"/>
                <a:ea typeface="Poppins"/>
                <a:cs typeface="Poppins"/>
                <a:sym typeface="Poppins"/>
              </a:rPr>
              <a:t>Bag of Words model is a standard way to decompose any text into several features that can then be used to train a classifier.</a:t>
            </a:r>
            <a:endParaRPr/>
          </a:p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21212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12121"/>
                </a:solidFill>
                <a:latin typeface="Poppins"/>
                <a:ea typeface="Poppins"/>
                <a:cs typeface="Poppins"/>
                <a:sym typeface="Poppins"/>
              </a:rPr>
              <a:t>The method consists of taking all the words from all the corpuses/documents/rows and performing one-hot encoding. However, the final value is a frequency of the word rather than a binary variable</a:t>
            </a:r>
            <a:endParaRPr/>
          </a:p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12121"/>
                </a:solidFill>
                <a:latin typeface="Poppins"/>
                <a:ea typeface="Poppins"/>
                <a:cs typeface="Poppins"/>
                <a:sym typeface="Poppins"/>
              </a:rPr>
              <a:t>In essence, each</a:t>
            </a:r>
            <a:r>
              <a:rPr lang="en-US" sz="3000">
                <a:solidFill>
                  <a:srgbClr val="2DC5FA"/>
                </a:solidFill>
                <a:latin typeface="Poppins"/>
                <a:ea typeface="Poppins"/>
                <a:cs typeface="Poppins"/>
                <a:sym typeface="Poppins"/>
              </a:rPr>
              <a:t> distinct word becomes a feature</a:t>
            </a:r>
            <a:r>
              <a:rPr lang="en-US" sz="3000">
                <a:solidFill>
                  <a:srgbClr val="21212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/>
          </a:p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21212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5"/>
          <p:cNvSpPr/>
          <p:nvPr/>
        </p:nvSpPr>
        <p:spPr>
          <a:xfrm>
            <a:off x="0" y="7664866"/>
            <a:ext cx="18288000" cy="5632034"/>
          </a:xfrm>
          <a:custGeom>
            <a:rect b="b" l="l" r="r" t="t"/>
            <a:pathLst>
              <a:path extrusionOk="0" h="872549" w="2833290">
                <a:moveTo>
                  <a:pt x="0" y="0"/>
                </a:moveTo>
                <a:lnTo>
                  <a:pt x="2833290" y="0"/>
                </a:lnTo>
                <a:lnTo>
                  <a:pt x="2833290" y="872549"/>
                </a:lnTo>
                <a:lnTo>
                  <a:pt x="0" y="872549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12348" l="0" r="0" t="-11234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5"/>
          <p:cNvSpPr/>
          <p:nvPr/>
        </p:nvSpPr>
        <p:spPr>
          <a:xfrm>
            <a:off x="949008" y="3212972"/>
            <a:ext cx="16071817" cy="3861056"/>
          </a:xfrm>
          <a:custGeom>
            <a:rect b="b" l="l" r="r" t="t"/>
            <a:pathLst>
              <a:path extrusionOk="0" h="3861056" w="16071817">
                <a:moveTo>
                  <a:pt x="0" y="0"/>
                </a:moveTo>
                <a:lnTo>
                  <a:pt x="16071817" y="0"/>
                </a:lnTo>
                <a:lnTo>
                  <a:pt x="16071817" y="3861056"/>
                </a:lnTo>
                <a:lnTo>
                  <a:pt x="0" y="38610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8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5"/>
          <p:cNvSpPr txBox="1"/>
          <p:nvPr/>
        </p:nvSpPr>
        <p:spPr>
          <a:xfrm>
            <a:off x="1524000" y="1347937"/>
            <a:ext cx="15967902" cy="792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7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BAG OF WORDS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6"/>
          <p:cNvSpPr/>
          <p:nvPr/>
        </p:nvSpPr>
        <p:spPr>
          <a:xfrm>
            <a:off x="10800335" y="2604523"/>
            <a:ext cx="7487665" cy="6437836"/>
          </a:xfrm>
          <a:custGeom>
            <a:rect b="b" l="l" r="r" t="t"/>
            <a:pathLst>
              <a:path extrusionOk="0" h="6437836" w="7487665">
                <a:moveTo>
                  <a:pt x="0" y="0"/>
                </a:moveTo>
                <a:lnTo>
                  <a:pt x="7487665" y="0"/>
                </a:lnTo>
                <a:lnTo>
                  <a:pt x="7487665" y="6437836"/>
                </a:lnTo>
                <a:lnTo>
                  <a:pt x="0" y="64378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6"/>
          <p:cNvSpPr txBox="1"/>
          <p:nvPr/>
        </p:nvSpPr>
        <p:spPr>
          <a:xfrm>
            <a:off x="1524000" y="1347937"/>
            <a:ext cx="15967902" cy="792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7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BAG OF WORDS</a:t>
            </a:r>
            <a:endParaRPr/>
          </a:p>
        </p:txBody>
      </p:sp>
      <p:sp>
        <p:nvSpPr>
          <p:cNvPr id="255" name="Google Shape;255;p16"/>
          <p:cNvSpPr txBox="1"/>
          <p:nvPr/>
        </p:nvSpPr>
        <p:spPr>
          <a:xfrm>
            <a:off x="1524000" y="3163665"/>
            <a:ext cx="9567600" cy="74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12121"/>
                </a:solidFill>
                <a:latin typeface="Poppins"/>
                <a:ea typeface="Poppins"/>
                <a:cs typeface="Poppins"/>
                <a:sym typeface="Poppins"/>
              </a:rPr>
              <a:t>Problems of bag of words:</a:t>
            </a:r>
            <a:endParaRPr/>
          </a:p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21212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12121"/>
                </a:solidFill>
                <a:latin typeface="Poppins"/>
                <a:ea typeface="Poppins"/>
                <a:cs typeface="Poppins"/>
                <a:sym typeface="Poppins"/>
              </a:rPr>
              <a:t>- you lose the context of the words within the sentence</a:t>
            </a:r>
            <a:endParaRPr/>
          </a:p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12121"/>
                </a:solidFill>
                <a:latin typeface="Poppins"/>
                <a:ea typeface="Poppins"/>
                <a:cs typeface="Poppins"/>
                <a:sym typeface="Poppins"/>
              </a:rPr>
              <a:t>- assumes all words are independent</a:t>
            </a:r>
            <a:endParaRPr/>
          </a:p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21212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12121"/>
                </a:solidFill>
                <a:latin typeface="Poppins"/>
                <a:ea typeface="Poppins"/>
                <a:cs typeface="Poppins"/>
                <a:sym typeface="Poppins"/>
              </a:rPr>
              <a:t>"this is not bad" -&gt; "</a:t>
            </a:r>
            <a:r>
              <a:rPr lang="en-US" sz="3000">
                <a:solidFill>
                  <a:srgbClr val="FF1616"/>
                </a:solidFill>
                <a:latin typeface="Poppins"/>
                <a:ea typeface="Poppins"/>
                <a:cs typeface="Poppins"/>
                <a:sym typeface="Poppins"/>
              </a:rPr>
              <a:t>bad</a:t>
            </a:r>
            <a:r>
              <a:rPr lang="en-US" sz="3000">
                <a:solidFill>
                  <a:srgbClr val="212121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 sz="3000">
              <a:solidFill>
                <a:srgbClr val="21212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9600"/>
                </a:solidFill>
                <a:latin typeface="Poppins"/>
                <a:ea typeface="Poppins"/>
                <a:cs typeface="Poppins"/>
                <a:sym typeface="Poppins"/>
              </a:rPr>
              <a:t>solution</a:t>
            </a:r>
            <a:r>
              <a:rPr lang="en-US" sz="3000">
                <a:solidFill>
                  <a:srgbClr val="212121"/>
                </a:solidFill>
                <a:latin typeface="Poppins"/>
                <a:ea typeface="Poppins"/>
                <a:cs typeface="Poppins"/>
                <a:sym typeface="Poppins"/>
              </a:rPr>
              <a:t>: N-Grams performing bag of words but with pairs of sequential words for example:</a:t>
            </a:r>
            <a:endParaRPr/>
          </a:p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21212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12121"/>
                </a:solidFill>
                <a:latin typeface="Poppins"/>
                <a:ea typeface="Poppins"/>
                <a:cs typeface="Poppins"/>
                <a:sym typeface="Poppins"/>
              </a:rPr>
              <a:t>"this is" ; "is not" ; "not bad" would be your features</a:t>
            </a:r>
            <a:endParaRPr/>
          </a:p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21212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7"/>
          <p:cNvSpPr txBox="1"/>
          <p:nvPr/>
        </p:nvSpPr>
        <p:spPr>
          <a:xfrm>
            <a:off x="7543800" y="4769391"/>
            <a:ext cx="8728902" cy="7482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7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Jupyter</a:t>
            </a:r>
            <a:endParaRPr sz="5700">
              <a:solidFill>
                <a:srgbClr val="43434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8"/>
          <p:cNvSpPr txBox="1"/>
          <p:nvPr/>
        </p:nvSpPr>
        <p:spPr>
          <a:xfrm>
            <a:off x="1524000" y="1347937"/>
            <a:ext cx="15967902" cy="792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7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TF-IDF</a:t>
            </a:r>
            <a:endParaRPr/>
          </a:p>
        </p:txBody>
      </p:sp>
      <p:sp>
        <p:nvSpPr>
          <p:cNvPr id="276" name="Google Shape;276;p18"/>
          <p:cNvSpPr txBox="1"/>
          <p:nvPr/>
        </p:nvSpPr>
        <p:spPr>
          <a:xfrm>
            <a:off x="1524000" y="3163665"/>
            <a:ext cx="15499500" cy="39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DC5FA"/>
                </a:solidFill>
                <a:latin typeface="Poppins"/>
                <a:ea typeface="Poppins"/>
                <a:cs typeface="Poppins"/>
                <a:sym typeface="Poppins"/>
              </a:rPr>
              <a:t>Term Frequency Inverse Document Frequency</a:t>
            </a:r>
            <a:r>
              <a:rPr lang="en-US" sz="3000">
                <a:solidFill>
                  <a:srgbClr val="212121"/>
                </a:solidFill>
                <a:latin typeface="Poppins"/>
                <a:ea typeface="Poppins"/>
                <a:cs typeface="Poppins"/>
                <a:sym typeface="Poppins"/>
              </a:rPr>
              <a:t> (TF-IDF) is one of the most important feature engineering techniques in natural language processing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chemeClr val="dk1"/>
                </a:solidFill>
              </a:rPr>
              <a:t>It combines </a:t>
            </a:r>
            <a:r>
              <a:rPr b="1" lang="en-US" sz="2300">
                <a:solidFill>
                  <a:schemeClr val="dk1"/>
                </a:solidFill>
              </a:rPr>
              <a:t>two metrics</a:t>
            </a:r>
            <a:r>
              <a:rPr lang="en-US" sz="2300">
                <a:solidFill>
                  <a:schemeClr val="dk1"/>
                </a:solidFill>
              </a:rPr>
              <a:t>:</a:t>
            </a:r>
            <a:endParaRPr sz="3500">
              <a:solidFill>
                <a:schemeClr val="dk1"/>
              </a:solidFill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600"/>
              <a:buAutoNum type="arabicPeriod"/>
            </a:pPr>
            <a:r>
              <a:rPr b="1" lang="en-US" sz="2600">
                <a:solidFill>
                  <a:schemeClr val="dk1"/>
                </a:solidFill>
              </a:rPr>
              <a:t>Term Frequency (TF)</a:t>
            </a:r>
            <a:r>
              <a:rPr lang="en-US" sz="2600">
                <a:solidFill>
                  <a:schemeClr val="dk1"/>
                </a:solidFill>
              </a:rPr>
              <a:t> – How often a word appears in a document.</a:t>
            </a:r>
            <a:br>
              <a:rPr lang="en-US" sz="2600">
                <a:solidFill>
                  <a:schemeClr val="dk1"/>
                </a:solidFill>
              </a:rPr>
            </a:br>
            <a:endParaRPr sz="2600">
              <a:solidFill>
                <a:schemeClr val="dk1"/>
              </a:solidFill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AutoNum type="arabicPeriod"/>
            </a:pPr>
            <a:r>
              <a:rPr b="1" lang="en-US" sz="2600">
                <a:solidFill>
                  <a:schemeClr val="dk1"/>
                </a:solidFill>
              </a:rPr>
              <a:t>Inverse Document Frequency (IDF)</a:t>
            </a:r>
            <a:r>
              <a:rPr lang="en-US" sz="2600">
                <a:solidFill>
                  <a:schemeClr val="dk1"/>
                </a:solidFill>
              </a:rPr>
              <a:t> – How unique or rare the word is across all documents.</a:t>
            </a:r>
            <a:endParaRPr sz="26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3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21212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7" name="Google Shape;277;p18"/>
          <p:cNvSpPr txBox="1"/>
          <p:nvPr/>
        </p:nvSpPr>
        <p:spPr>
          <a:xfrm>
            <a:off x="1394250" y="7274200"/>
            <a:ext cx="15499500" cy="20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12121"/>
                </a:solidFill>
                <a:latin typeface="Poppins"/>
                <a:ea typeface="Poppins"/>
                <a:cs typeface="Poppins"/>
                <a:sym typeface="Poppins"/>
              </a:rPr>
              <a:t>Weighs how important a word is in a specific document and how rare it is in all the collections of documents</a:t>
            </a:r>
            <a:endParaRPr sz="3000">
              <a:solidFill>
                <a:srgbClr val="21212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FF161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684b9063ce_0_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g3684b9063ce_0_9"/>
          <p:cNvSpPr txBox="1"/>
          <p:nvPr/>
        </p:nvSpPr>
        <p:spPr>
          <a:xfrm>
            <a:off x="1524000" y="1347937"/>
            <a:ext cx="15967800" cy="8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7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TF-IDF</a:t>
            </a:r>
            <a:endParaRPr/>
          </a:p>
        </p:txBody>
      </p:sp>
      <p:sp>
        <p:nvSpPr>
          <p:cNvPr id="288" name="Google Shape;288;g3684b9063ce_0_9"/>
          <p:cNvSpPr txBox="1"/>
          <p:nvPr/>
        </p:nvSpPr>
        <p:spPr>
          <a:xfrm>
            <a:off x="1524000" y="3002775"/>
            <a:ext cx="15499500" cy="30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3000">
                <a:solidFill>
                  <a:srgbClr val="212121"/>
                </a:solidFill>
                <a:latin typeface="Poppins"/>
                <a:ea typeface="Poppins"/>
                <a:cs typeface="Poppins"/>
                <a:sym typeface="Poppins"/>
              </a:rPr>
              <a:t>High TF-IDF score -&gt; word appears many times in a document but is rare in collection of documents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3000">
              <a:solidFill>
                <a:srgbClr val="FF161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3000">
                <a:solidFill>
                  <a:srgbClr val="212121"/>
                </a:solidFill>
                <a:latin typeface="Poppins"/>
                <a:ea typeface="Poppins"/>
                <a:cs typeface="Poppins"/>
                <a:sym typeface="Poppins"/>
              </a:rPr>
              <a:t>Low TF-IDF score -&gt; word that appears moderately in a document but is extremely common in collection of documents </a:t>
            </a:r>
            <a:endParaRPr sz="3000">
              <a:solidFill>
                <a:srgbClr val="21212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9"/>
          <p:cNvSpPr txBox="1"/>
          <p:nvPr/>
        </p:nvSpPr>
        <p:spPr>
          <a:xfrm>
            <a:off x="1524000" y="1347937"/>
            <a:ext cx="15967902" cy="792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7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TF-IDF</a:t>
            </a:r>
            <a:endParaRPr/>
          </a:p>
        </p:txBody>
      </p:sp>
      <p:sp>
        <p:nvSpPr>
          <p:cNvPr id="299" name="Google Shape;299;p19"/>
          <p:cNvSpPr/>
          <p:nvPr/>
        </p:nvSpPr>
        <p:spPr>
          <a:xfrm>
            <a:off x="4813654" y="1281262"/>
            <a:ext cx="12445646" cy="8491388"/>
          </a:xfrm>
          <a:custGeom>
            <a:rect b="b" l="l" r="r" t="t"/>
            <a:pathLst>
              <a:path extrusionOk="0" h="11321851" w="16594195">
                <a:moveTo>
                  <a:pt x="0" y="0"/>
                </a:moveTo>
                <a:lnTo>
                  <a:pt x="16594195" y="0"/>
                </a:lnTo>
                <a:lnTo>
                  <a:pt x="16594195" y="11321851"/>
                </a:lnTo>
                <a:lnTo>
                  <a:pt x="0" y="113218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0"/>
          <p:cNvSpPr/>
          <p:nvPr/>
        </p:nvSpPr>
        <p:spPr>
          <a:xfrm>
            <a:off x="8715375" y="0"/>
            <a:ext cx="9572625" cy="10287000"/>
          </a:xfrm>
          <a:custGeom>
            <a:rect b="b" l="l" r="r" t="t"/>
            <a:pathLst>
              <a:path extrusionOk="0" h="10287000" w="9572625">
                <a:moveTo>
                  <a:pt x="0" y="0"/>
                </a:moveTo>
                <a:lnTo>
                  <a:pt x="9572625" y="0"/>
                </a:lnTo>
                <a:lnTo>
                  <a:pt x="957262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7461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0"/>
          <p:cNvSpPr txBox="1"/>
          <p:nvPr/>
        </p:nvSpPr>
        <p:spPr>
          <a:xfrm>
            <a:off x="1524000" y="1800995"/>
            <a:ext cx="7620000" cy="2082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424242"/>
                </a:solidFill>
                <a:latin typeface="Poppins"/>
                <a:ea typeface="Poppins"/>
                <a:cs typeface="Poppins"/>
                <a:sym typeface="Poppins"/>
              </a:rPr>
              <a:t>ANY QUESTIONS 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