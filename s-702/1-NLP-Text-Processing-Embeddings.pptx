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Fredoka"/>
      <p:regular r:id="rId23"/>
      <p:bold r:id="rId24"/>
    </p:embeddedFont>
    <p:embeddedFont>
      <p:font typeface="Poppi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jg8qoe6PWRhcRP53eph9OUC6mE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Fredoka-bold.fntdata"/><Relationship Id="rId23" Type="http://schemas.openxmlformats.org/officeDocument/2006/relationships/font" Target="fonts/Fredok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54ed3b16e_0_46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254ed3b16e_0_46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254ed3b16e_0_46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254ed3b16e_0_46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g3254ed3b16e_0_46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254ed3b16e_0_46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54ed3b16e_0_25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254ed3b16e_0_25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254ed3b16e_0_25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254ed3b16e_0_25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254ed3b16e_0_25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254ed3b16e_0_25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54ed3b16e_0_17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254ed3b16e_0_17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254ed3b16e_0_17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254ed3b16e_0_17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254ed3b16e_0_17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254ed3b16e_0_17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54ed3b16e_0_28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254ed3b16e_0_28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254ed3b16e_0_28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254ed3b16e_0_28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254ed3b16e_0_28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254ed3b16e_0_28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54ed3b16e_0_37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254ed3b16e_0_37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254ed3b16e_0_37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254ed3b16e_0_37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254ed3b16e_0_37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254ed3b16e_0_37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54ed3b16e_0_116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254ed3b16e_0_116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254ed3b16e_0_116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254ed3b16e_0_116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254ed3b16e_0_116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254ed3b16e_0_116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54ed3b16e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254ed3b16e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254ed3b16e_0_0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254ed3b16e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254ed3b16e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254ed3b16e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54ed3b16e_0_56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254ed3b16e_0_56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254ed3b16e_0_567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254ed3b16e_0_56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254ed3b16e_0_567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254ed3b16e_0_567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54ed3b16e_0_73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254ed3b16e_0_73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254ed3b16e_0_73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254ed3b16e_0_73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254ed3b16e_0_73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254ed3b16e_0_73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54ed3b16e_0_82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254ed3b16e_0_82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254ed3b16e_0_82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254ed3b16e_0_82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254ed3b16e_0_82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254ed3b16e_0_82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a50f4e8d12_0_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2a50f4e8d12_0_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2a50f4e8d12_0_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2a50f4e8d12_0_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2a50f4e8d12_0_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2a50f4e8d12_0_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254ed3b16e_0_90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254ed3b16e_0_90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254ed3b16e_0_907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254ed3b16e_0_90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254ed3b16e_0_907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254ed3b16e_0_907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54ed3b16e_0_55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254ed3b16e_0_55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254ed3b16e_0_558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254ed3b16e_0_55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254ed3b16e_0_55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254ed3b16e_0_55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54ed3b16e_0_465"/>
          <p:cNvSpPr/>
          <p:nvPr/>
        </p:nvSpPr>
        <p:spPr>
          <a:xfrm>
            <a:off x="0" y="0"/>
            <a:ext cx="18288000" cy="10287022"/>
          </a:xfrm>
          <a:custGeom>
            <a:rect b="b" l="l" r="r" t="t"/>
            <a:pathLst>
              <a:path extrusionOk="0" h="10287022" w="18288000">
                <a:moveTo>
                  <a:pt x="0" y="0"/>
                </a:moveTo>
                <a:lnTo>
                  <a:pt x="18288000" y="0"/>
                </a:lnTo>
                <a:lnTo>
                  <a:pt x="18288000" y="10287022"/>
                </a:lnTo>
                <a:lnTo>
                  <a:pt x="0" y="10287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254ed3b16e_0_465"/>
          <p:cNvSpPr txBox="1"/>
          <p:nvPr/>
        </p:nvSpPr>
        <p:spPr>
          <a:xfrm>
            <a:off x="690475" y="5739325"/>
            <a:ext cx="105924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0" i="0" lang="en-US" sz="8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NATURAL LANGUAGE 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410889" y="5710814"/>
            <a:ext cx="17306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0" i="0" lang="en-US" sz="11000" u="none" cap="none" strike="noStrike">
                <a:solidFill>
                  <a:srgbClr val="2199D4"/>
                </a:solidFill>
                <a:latin typeface="Fredoka"/>
                <a:ea typeface="Fredoka"/>
                <a:cs typeface="Fredoka"/>
                <a:sym typeface="Fredoka"/>
              </a:rPr>
              <a:t>Text 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4513" y="1028700"/>
            <a:ext cx="3578973" cy="3578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54ed3b16e_0_25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254ed3b16e_0_259"/>
          <p:cNvSpPr txBox="1"/>
          <p:nvPr/>
        </p:nvSpPr>
        <p:spPr>
          <a:xfrm>
            <a:off x="1524000" y="2474060"/>
            <a:ext cx="70131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1" lvl="1" marL="64770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Tokenization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1" lvl="1" marL="64770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The process involves taking any text and splitting it into "tokens"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1" lvl="1" marL="64770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Usually the tokens chosen are individual words but can be sentences as well.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g3254ed3b16e_0_259"/>
          <p:cNvSpPr/>
          <p:nvPr/>
        </p:nvSpPr>
        <p:spPr>
          <a:xfrm>
            <a:off x="8289397" y="2502635"/>
            <a:ext cx="9998603" cy="6234948"/>
          </a:xfrm>
          <a:custGeom>
            <a:rect b="b" l="l" r="r" t="t"/>
            <a:pathLst>
              <a:path extrusionOk="0" h="6234948" w="9998603">
                <a:moveTo>
                  <a:pt x="0" y="0"/>
                </a:moveTo>
                <a:lnTo>
                  <a:pt x="9998603" y="0"/>
                </a:lnTo>
                <a:lnTo>
                  <a:pt x="9998603" y="6234948"/>
                </a:lnTo>
                <a:lnTo>
                  <a:pt x="0" y="6234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67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254ed3b16e_0_259"/>
          <p:cNvSpPr/>
          <p:nvPr/>
        </p:nvSpPr>
        <p:spPr>
          <a:xfrm>
            <a:off x="15791314" y="9570900"/>
            <a:ext cx="2496686" cy="594238"/>
          </a:xfrm>
          <a:custGeom>
            <a:rect b="b" l="l" r="r" t="t"/>
            <a:pathLst>
              <a:path extrusionOk="0" h="594238" w="2496686">
                <a:moveTo>
                  <a:pt x="0" y="0"/>
                </a:moveTo>
                <a:lnTo>
                  <a:pt x="2496686" y="0"/>
                </a:lnTo>
                <a:lnTo>
                  <a:pt x="2496686" y="594238"/>
                </a:lnTo>
                <a:lnTo>
                  <a:pt x="0" y="594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254ed3b16e_0_259"/>
          <p:cNvSpPr txBox="1"/>
          <p:nvPr/>
        </p:nvSpPr>
        <p:spPr>
          <a:xfrm>
            <a:off x="1524000" y="1347937"/>
            <a:ext cx="15967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TEXT DATA CLEANING TECHNIQUES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254ed3b16e_0_259"/>
          <p:cNvSpPr txBox="1"/>
          <p:nvPr/>
        </p:nvSpPr>
        <p:spPr>
          <a:xfrm>
            <a:off x="1037251" y="9080362"/>
            <a:ext cx="17250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C5FA"/>
                </a:solidFill>
                <a:latin typeface="Poppins"/>
                <a:ea typeface="Poppins"/>
                <a:cs typeface="Poppins"/>
                <a:sym typeface="Poppins"/>
              </a:rPr>
              <a:t>PROBLEMS</a:t>
            </a:r>
            <a:r>
              <a:rPr b="0" i="0" lang="en-US" sz="21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: YOU CAN LOSE IMPORTANT MEANING LIKE "NEW YORK" GETS SPLIT INTO "NEW" AND "YORK" THUS LOSING THE GEOGRAPHICAL MEANING. A GOOD MACHINE LEARNING APPLICATION WOULD TAKE THIS INTO CONSIDERATION BY CONSIDERING THE RELATIVE FREQUENCYOF PAIRS OF WORDS AND PERHAPS KEEP THOSE PAIRS AS A SINGLE 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54ed3b16e_0_17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254ed3b16e_0_172"/>
          <p:cNvSpPr txBox="1"/>
          <p:nvPr/>
        </p:nvSpPr>
        <p:spPr>
          <a:xfrm>
            <a:off x="1524000" y="1347937"/>
            <a:ext cx="15967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TEXT DATA CLEANING TECHNIQUES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254ed3b16e_0_172"/>
          <p:cNvSpPr txBox="1"/>
          <p:nvPr/>
        </p:nvSpPr>
        <p:spPr>
          <a:xfrm>
            <a:off x="1276350" y="3194159"/>
            <a:ext cx="7013100" cy="7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1" lvl="1" marL="64770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Stemming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1" lvl="1" marL="64770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Removing prefixes and suffixes in order to reduce synonym words into their common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1" lvl="1" marL="64770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This can lead to some problems of creating spurious relations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1" lvl="1" marL="64770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C5FA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DC5FA"/>
                </a:solidFill>
                <a:latin typeface="Poppins"/>
                <a:ea typeface="Poppins"/>
                <a:cs typeface="Poppins"/>
                <a:sym typeface="Poppins"/>
              </a:rPr>
              <a:t>Stripes -&gt; Strip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1" lvl="1" marL="64770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C5FA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DC5FA"/>
                </a:solidFill>
                <a:latin typeface="Poppins"/>
                <a:ea typeface="Poppins"/>
                <a:cs typeface="Poppins"/>
                <a:sym typeface="Poppins"/>
              </a:rPr>
              <a:t>Strip -&gt; Strip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DC5F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g3254ed3b16e_0_172"/>
          <p:cNvSpPr/>
          <p:nvPr/>
        </p:nvSpPr>
        <p:spPr>
          <a:xfrm>
            <a:off x="9144000" y="3222734"/>
            <a:ext cx="8057791" cy="6035566"/>
          </a:xfrm>
          <a:custGeom>
            <a:rect b="b" l="l" r="r" t="t"/>
            <a:pathLst>
              <a:path extrusionOk="0" h="6035566" w="8057791">
                <a:moveTo>
                  <a:pt x="0" y="0"/>
                </a:moveTo>
                <a:lnTo>
                  <a:pt x="8057791" y="0"/>
                </a:lnTo>
                <a:lnTo>
                  <a:pt x="8057791" y="6035566"/>
                </a:lnTo>
                <a:lnTo>
                  <a:pt x="0" y="6035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254ed3b16e_0_172"/>
          <p:cNvSpPr/>
          <p:nvPr/>
        </p:nvSpPr>
        <p:spPr>
          <a:xfrm>
            <a:off x="15791314" y="9570900"/>
            <a:ext cx="2496686" cy="594238"/>
          </a:xfrm>
          <a:custGeom>
            <a:rect b="b" l="l" r="r" t="t"/>
            <a:pathLst>
              <a:path extrusionOk="0" h="594238" w="2496686">
                <a:moveTo>
                  <a:pt x="0" y="0"/>
                </a:moveTo>
                <a:lnTo>
                  <a:pt x="2496686" y="0"/>
                </a:lnTo>
                <a:lnTo>
                  <a:pt x="2496686" y="594238"/>
                </a:lnTo>
                <a:lnTo>
                  <a:pt x="0" y="594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54ed3b16e_0_2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254ed3b16e_0_282"/>
          <p:cNvSpPr txBox="1"/>
          <p:nvPr/>
        </p:nvSpPr>
        <p:spPr>
          <a:xfrm>
            <a:off x="1524000" y="1347937"/>
            <a:ext cx="15967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TEXT DATA CLEANING TECHNIQUES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254ed3b16e_0_282"/>
          <p:cNvSpPr txBox="1"/>
          <p:nvPr/>
        </p:nvSpPr>
        <p:spPr>
          <a:xfrm>
            <a:off x="1276350" y="3194159"/>
            <a:ext cx="4824000" cy="5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DC5FA"/>
                </a:solidFill>
                <a:latin typeface="Poppins"/>
                <a:ea typeface="Poppins"/>
                <a:cs typeface="Poppins"/>
                <a:sym typeface="Poppins"/>
              </a:rPr>
              <a:t>lemmatization </a:t>
            </a: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looks beyond word reduction and considers a language’s full vocabulary to apply a morphological analysis to words. The lemma of ‘was’ is ‘be’ and the lemma of ‘mice’ is ‘mouse’.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254ed3b16e_0_282"/>
          <p:cNvSpPr/>
          <p:nvPr/>
        </p:nvSpPr>
        <p:spPr>
          <a:xfrm>
            <a:off x="8074780" y="3222734"/>
            <a:ext cx="9790700" cy="3091800"/>
          </a:xfrm>
          <a:custGeom>
            <a:rect b="b" l="l" r="r" t="t"/>
            <a:pathLst>
              <a:path extrusionOk="0" h="3091800" w="9790700">
                <a:moveTo>
                  <a:pt x="0" y="0"/>
                </a:moveTo>
                <a:lnTo>
                  <a:pt x="9790700" y="0"/>
                </a:lnTo>
                <a:lnTo>
                  <a:pt x="9790700" y="3091800"/>
                </a:lnTo>
                <a:lnTo>
                  <a:pt x="0" y="3091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254ed3b16e_0_282"/>
          <p:cNvSpPr/>
          <p:nvPr/>
        </p:nvSpPr>
        <p:spPr>
          <a:xfrm>
            <a:off x="7254697" y="6314534"/>
            <a:ext cx="10610783" cy="2042384"/>
          </a:xfrm>
          <a:custGeom>
            <a:rect b="b" l="l" r="r" t="t"/>
            <a:pathLst>
              <a:path extrusionOk="0" h="2042384" w="10610783">
                <a:moveTo>
                  <a:pt x="0" y="0"/>
                </a:moveTo>
                <a:lnTo>
                  <a:pt x="10610783" y="0"/>
                </a:lnTo>
                <a:lnTo>
                  <a:pt x="10610783" y="2042384"/>
                </a:lnTo>
                <a:lnTo>
                  <a:pt x="0" y="2042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-49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254ed3b16e_0_282"/>
          <p:cNvSpPr/>
          <p:nvPr/>
        </p:nvSpPr>
        <p:spPr>
          <a:xfrm>
            <a:off x="15791314" y="9570900"/>
            <a:ext cx="2496686" cy="594238"/>
          </a:xfrm>
          <a:custGeom>
            <a:rect b="b" l="l" r="r" t="t"/>
            <a:pathLst>
              <a:path extrusionOk="0" h="594238" w="2496686">
                <a:moveTo>
                  <a:pt x="0" y="0"/>
                </a:moveTo>
                <a:lnTo>
                  <a:pt x="2496686" y="0"/>
                </a:lnTo>
                <a:lnTo>
                  <a:pt x="2496686" y="594238"/>
                </a:lnTo>
                <a:lnTo>
                  <a:pt x="0" y="594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54ed3b16e_0_37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254ed3b16e_0_370"/>
          <p:cNvSpPr txBox="1"/>
          <p:nvPr/>
        </p:nvSpPr>
        <p:spPr>
          <a:xfrm>
            <a:off x="1524000" y="1347937"/>
            <a:ext cx="15967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TEXT DATA CLEANING TECHNIQUES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254ed3b16e_0_370"/>
          <p:cNvSpPr txBox="1"/>
          <p:nvPr/>
        </p:nvSpPr>
        <p:spPr>
          <a:xfrm>
            <a:off x="1524000" y="3163665"/>
            <a:ext cx="48240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Removal of stop words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Stop words are common words which are usually removed to not be interpreted as noise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254ed3b16e_0_370"/>
          <p:cNvSpPr/>
          <p:nvPr/>
        </p:nvSpPr>
        <p:spPr>
          <a:xfrm>
            <a:off x="8369123" y="2344041"/>
            <a:ext cx="9122779" cy="7083570"/>
          </a:xfrm>
          <a:custGeom>
            <a:rect b="b" l="l" r="r" t="t"/>
            <a:pathLst>
              <a:path extrusionOk="0" h="7083570" w="9122779">
                <a:moveTo>
                  <a:pt x="0" y="0"/>
                </a:moveTo>
                <a:lnTo>
                  <a:pt x="9122779" y="0"/>
                </a:lnTo>
                <a:lnTo>
                  <a:pt x="9122779" y="7083570"/>
                </a:lnTo>
                <a:lnTo>
                  <a:pt x="0" y="7083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54ed3b16e_0_116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254ed3b16e_0_1162"/>
          <p:cNvSpPr txBox="1"/>
          <p:nvPr/>
        </p:nvSpPr>
        <p:spPr>
          <a:xfrm>
            <a:off x="981225" y="902112"/>
            <a:ext cx="15967800" cy="25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TOKENIZATION</a:t>
            </a:r>
            <a:endParaRPr b="0" i="0" sz="57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&amp; STOPWORDS</a:t>
            </a:r>
            <a:endParaRPr b="0" i="0" sz="57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REMOVAL</a:t>
            </a:r>
            <a:endParaRPr b="0" i="0" sz="57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9" name="Google Shape;159;g3254ed3b16e_0_1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225" y="4207925"/>
            <a:ext cx="9789199" cy="55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254ed3b16e_0_11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9788" y="519050"/>
            <a:ext cx="9915525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254ed3b16e_0_11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23000" y="5046050"/>
            <a:ext cx="7211226" cy="405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54ed3b16e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254ed3b16e_0_0"/>
          <p:cNvSpPr txBox="1"/>
          <p:nvPr/>
        </p:nvSpPr>
        <p:spPr>
          <a:xfrm>
            <a:off x="5439325" y="4722291"/>
            <a:ext cx="8728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Word-Embeddings</a:t>
            </a:r>
            <a:endParaRPr b="0" i="0" sz="57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54ed3b16e_0_56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254ed3b16e_0_567"/>
          <p:cNvSpPr txBox="1"/>
          <p:nvPr/>
        </p:nvSpPr>
        <p:spPr>
          <a:xfrm>
            <a:off x="1524000" y="1347937"/>
            <a:ext cx="15967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WHAT ARE WORD-EMBEDDINGS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254ed3b16e_0_567"/>
          <p:cNvSpPr txBox="1"/>
          <p:nvPr/>
        </p:nvSpPr>
        <p:spPr>
          <a:xfrm>
            <a:off x="1524000" y="2857800"/>
            <a:ext cx="15499500" cy="5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7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Word embeddings are dense vector representations of words where similar words are located close to each other in the embedding space.</a:t>
            </a:r>
            <a:endParaRPr b="0" i="0" sz="27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7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Each word is encoded as a point in a multi-dimensional space (e.g., 100, 200, or 300 dimensions).</a:t>
            </a:r>
            <a:endParaRPr b="0" i="0" sz="27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3225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Arial"/>
              <a:buChar char="●"/>
            </a:pPr>
            <a:r>
              <a:rPr b="1" i="0" lang="en-US" sz="27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Purpose</a:t>
            </a:r>
            <a:r>
              <a:rPr b="0" i="0" lang="en-US" sz="27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0" i="0" sz="27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32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Poppins"/>
              <a:buChar char="■"/>
            </a:pPr>
            <a:r>
              <a:rPr b="0" i="0" lang="en-US" sz="27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Embeddings translate the unstructured nature of language into numerical forms that machine learning models can process.</a:t>
            </a:r>
            <a:endParaRPr b="0" i="0" sz="27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32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Arial"/>
              <a:buChar char="●"/>
            </a:pPr>
            <a:r>
              <a:rPr b="1" i="0" lang="en-US" sz="27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Dimensionality</a:t>
            </a:r>
            <a:r>
              <a:rPr b="0" i="0" lang="en-US" sz="27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0" i="0" sz="27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32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Poppins"/>
              <a:buChar char="■"/>
            </a:pPr>
            <a:r>
              <a:rPr b="0" i="0" lang="en-US" sz="27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Each dimension captures some aspect of a word’s meaning.</a:t>
            </a:r>
            <a:endParaRPr b="0" i="0" sz="27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32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Poppins"/>
              <a:buChar char="■"/>
            </a:pPr>
            <a:r>
              <a:rPr b="0" i="0" lang="en-US" sz="27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Higher-dimensional embeddings (e.g., 300) capture finer-grained relationships but require more computation.</a:t>
            </a:r>
            <a:endParaRPr b="0" i="0" sz="4700" u="none" cap="none" strike="noStrike">
              <a:solidFill>
                <a:srgbClr val="FF161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54ed3b16e_0_73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254ed3b16e_0_736"/>
          <p:cNvSpPr txBox="1"/>
          <p:nvPr/>
        </p:nvSpPr>
        <p:spPr>
          <a:xfrm>
            <a:off x="1524000" y="1347937"/>
            <a:ext cx="15967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WHAT ARE WORD-EMBEDDINGS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254ed3b16e_0_7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1250" y="2713900"/>
            <a:ext cx="8650025" cy="648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254ed3b16e_0_7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54ed3b16e_0_8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254ed3b16e_0_822"/>
          <p:cNvSpPr txBox="1"/>
          <p:nvPr/>
        </p:nvSpPr>
        <p:spPr>
          <a:xfrm>
            <a:off x="1524000" y="1347937"/>
            <a:ext cx="15967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WHAT ARE WORD-EMBEDDINGS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g3254ed3b16e_0_8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5400" y="2413850"/>
            <a:ext cx="12797199" cy="715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a50f4e8d12_0_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2a50f4e8d12_0_1"/>
          <p:cNvSpPr txBox="1"/>
          <p:nvPr/>
        </p:nvSpPr>
        <p:spPr>
          <a:xfrm>
            <a:off x="1524000" y="1347937"/>
            <a:ext cx="15967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WHAT ARE WORD-EMBEDDINGS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g2a50f4e8d12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5400" y="2413850"/>
            <a:ext cx="12797199" cy="71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2a50f4e8d12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8175" y="6196775"/>
            <a:ext cx="8476651" cy="29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254ed3b16e_0_90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254ed3b16e_0_907"/>
          <p:cNvSpPr txBox="1"/>
          <p:nvPr/>
        </p:nvSpPr>
        <p:spPr>
          <a:xfrm>
            <a:off x="1524000" y="1347937"/>
            <a:ext cx="15967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WHAT ARE WORD-EMBEDDINGS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g3254ed3b16e_0_9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600" y="2869000"/>
            <a:ext cx="8650025" cy="648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254ed3b16e_0_9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05799" y="3192088"/>
            <a:ext cx="7760773" cy="584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54ed3b16e_0_5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254ed3b16e_0_558"/>
          <p:cNvSpPr txBox="1"/>
          <p:nvPr/>
        </p:nvSpPr>
        <p:spPr>
          <a:xfrm>
            <a:off x="5439325" y="4722291"/>
            <a:ext cx="8728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Word-Embeddings</a:t>
            </a:r>
            <a:endParaRPr b="0" i="0" sz="57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"/>
          <p:cNvSpPr/>
          <p:nvPr/>
        </p:nvSpPr>
        <p:spPr>
          <a:xfrm>
            <a:off x="-247933" y="9614883"/>
            <a:ext cx="18796165" cy="907256"/>
          </a:xfrm>
          <a:prstGeom prst="rect">
            <a:avLst/>
          </a:prstGeom>
          <a:solidFill>
            <a:srgbClr val="EA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949008" y="2329139"/>
            <a:ext cx="16310400" cy="67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rPr b="0" i="0" lang="en-US" sz="3388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Pro : can be used pre-trained</a:t>
            </a:r>
            <a:r>
              <a:rPr b="0" i="0" lang="en-US" sz="3388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if your application is generic</a:t>
            </a:r>
            <a:r>
              <a:rPr b="0" i="0" lang="en-US" sz="3388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. For the vast majority of cases the word embeddings trained on Wikipedia are good enough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t/>
            </a:r>
            <a:endParaRPr b="0" i="0" sz="3388" u="none" cap="none" strike="noStrike">
              <a:solidFill>
                <a:srgbClr val="00000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rPr b="0" i="0" lang="en-US" sz="3388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Pro: can be customized from a pre-learned model at a fraction of the cost. If you have a relatively modest corpus, you can piggyback on a pre trained model that already knows most of the smeantics of english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t/>
            </a:r>
            <a:endParaRPr b="0" i="0" sz="3388" u="none" cap="none" strike="noStrike">
              <a:solidFill>
                <a:srgbClr val="00000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rPr b="0" i="0" lang="en-US" sz="3388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Con: can be quite difficult to train from scratch. Pretty much only google and a few other large data holders can create these models (or... OpenAI)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949008" y="1028700"/>
            <a:ext cx="1707664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199D4"/>
                </a:solidFill>
                <a:latin typeface="Fredoka"/>
                <a:ea typeface="Fredoka"/>
                <a:cs typeface="Fredoka"/>
                <a:sym typeface="Fredoka"/>
              </a:rPr>
              <a:t>EMBEDDINGS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"/>
          <p:cNvSpPr/>
          <p:nvPr/>
        </p:nvSpPr>
        <p:spPr>
          <a:xfrm>
            <a:off x="-247933" y="9614883"/>
            <a:ext cx="18796165" cy="907256"/>
          </a:xfrm>
          <a:prstGeom prst="rect">
            <a:avLst/>
          </a:prstGeom>
          <a:solidFill>
            <a:srgbClr val="EA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1553" y="2405339"/>
            <a:ext cx="7027747" cy="42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"/>
          <p:cNvSpPr txBox="1"/>
          <p:nvPr/>
        </p:nvSpPr>
        <p:spPr>
          <a:xfrm>
            <a:off x="949008" y="1028700"/>
            <a:ext cx="1707664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199D4"/>
                </a:solidFill>
                <a:latin typeface="Fredoka"/>
                <a:ea typeface="Fredoka"/>
                <a:cs typeface="Fredoka"/>
                <a:sym typeface="Fredoka"/>
              </a:rPr>
              <a:t>WORD EMBEDDINGS - WORD2VEC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 txBox="1"/>
          <p:nvPr/>
        </p:nvSpPr>
        <p:spPr>
          <a:xfrm>
            <a:off x="949008" y="2329139"/>
            <a:ext cx="8201142" cy="4551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rPr b="0" i="0" lang="en-US" sz="3388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Enriches the notion of autoencoder by considering not only the word but also the words that show up around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t/>
            </a:r>
            <a:endParaRPr b="0" i="0" sz="3388" u="none" cap="none" strike="noStrike">
              <a:solidFill>
                <a:srgbClr val="00000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rPr b="0" i="0" lang="en-US" sz="3388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Two versions, depending if it's more important to guess the word based on the context or predict the context based on the 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"/>
          <p:cNvSpPr txBox="1"/>
          <p:nvPr/>
        </p:nvSpPr>
        <p:spPr>
          <a:xfrm>
            <a:off x="887821" y="8241652"/>
            <a:ext cx="165246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rPr b="0" i="0" lang="en-US" sz="3388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We have huge corpuses for training, essentially all of literature created so far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"/>
          <p:cNvSpPr/>
          <p:nvPr/>
        </p:nvSpPr>
        <p:spPr>
          <a:xfrm>
            <a:off x="-247933" y="9614883"/>
            <a:ext cx="18796165" cy="907256"/>
          </a:xfrm>
          <a:prstGeom prst="rect">
            <a:avLst/>
          </a:prstGeom>
          <a:solidFill>
            <a:srgbClr val="EA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949008" y="2329139"/>
            <a:ext cx="10246354" cy="626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rPr b="0" i="0" lang="en-US" sz="3388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Word2Vec still associates the same vector to the same 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t/>
            </a:r>
            <a:endParaRPr b="0" i="0" sz="3388" u="none" cap="none" strike="noStrike">
              <a:solidFill>
                <a:srgbClr val="00000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rPr b="0" i="0" lang="en-US" sz="3388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BERT - Bidirectional Encoder Representations from Transformers consider not only the word but also it's context *during encoding*, which means it can extract different meanings from the same 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t/>
            </a:r>
            <a:endParaRPr b="0" i="0" sz="3388" u="none" cap="none" strike="noStrike">
              <a:solidFill>
                <a:srgbClr val="00000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8"/>
              <a:buFont typeface="Arial"/>
              <a:buNone/>
            </a:pPr>
            <a:r>
              <a:rPr b="0" i="0" lang="en-US" sz="3388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"the man robbed a bank" vs "the bank of the river was flooded"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3229" y="2405339"/>
            <a:ext cx="4606071" cy="614142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"/>
          <p:cNvSpPr txBox="1"/>
          <p:nvPr/>
        </p:nvSpPr>
        <p:spPr>
          <a:xfrm>
            <a:off x="949008" y="1028700"/>
            <a:ext cx="1707664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199D4"/>
                </a:solidFill>
                <a:latin typeface="Fredoka"/>
                <a:ea typeface="Fredoka"/>
                <a:cs typeface="Fredoka"/>
                <a:sym typeface="Fredoka"/>
              </a:rPr>
              <a:t>WORD EMBEDDINGS - BERT FAMILY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